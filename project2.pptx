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80" r:id="rId8"/>
    <p:sldId id="260" r:id="rId9"/>
    <p:sldId id="261" r:id="rId10"/>
    <p:sldId id="262" r:id="rId11"/>
    <p:sldId id="263" r:id="rId12"/>
    <p:sldId id="264" r:id="rId13"/>
    <p:sldId id="281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83" r:id="rId22"/>
    <p:sldId id="274" r:id="rId23"/>
    <p:sldId id="275" r:id="rId24"/>
    <p:sldId id="276" r:id="rId25"/>
    <p:sldId id="286" r:id="rId26"/>
    <p:sldId id="277" r:id="rId27"/>
    <p:sldId id="278" r:id="rId28"/>
    <p:sldId id="284" r:id="rId29"/>
    <p:sldId id="288" r:id="rId30"/>
    <p:sldId id="273" r:id="rId31"/>
    <p:sldId id="285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82B4"/>
    <a:srgbClr val="1B3A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Predicting Daily Maximum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Temperature at Manchester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2050–2080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CESM2 LENS2 Data and Supervised Machine Learning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Monitoring and Modelling — Group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Background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7842" y="1005840"/>
            <a:ext cx="8964386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CESM2 LENS2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Earth System Model 2, Large Ensemble. A widely-used global climate model run multiple times with slightly different initial conditions to sample natural variability.</a:t>
            </a: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ensemble members (003–008), daily resolution, 2006–2080</a:t>
            </a: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grid point to Manchester (53.48°N, 2.24°W)</a:t>
            </a: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164,244 total daily observations across all members</a:t>
            </a: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TREFMXAV_U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maximum near-surface air temperature (stored in Kelvin, converted to °C). This is the variable we are predicting.</a:t>
            </a:r>
            <a:endParaRPr lang="en-US" sz="1400" dirty="0">
              <a:solidFill>
                <a:schemeClr val="tx2">
                  <a:lumMod val="60000"/>
                  <a:lumOff val="4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altLang="zh-CN" sz="1600" b="1" dirty="0"/>
              <a:t>QBOT</a:t>
            </a:r>
            <a:endParaRPr lang="en-US" altLang="zh-CN" sz="1600" b="1" dirty="0"/>
          </a:p>
          <a:p>
            <a:pPr marL="0" indent="0">
              <a:buNone/>
            </a:pPr>
            <a:r>
              <a:rPr lang="en-US" altLang="zh-CN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Lowest model level specific humidity (stored in g/kg). Alongside temperature, this is a crucial variable for assessing human heat stress and compound climate risks.</a:t>
            </a:r>
            <a:endParaRPr lang="en-US" altLang="zh-CN"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1140" y="4793615"/>
            <a:ext cx="9243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0000"/>
                </a:solidFill>
              </a:rPr>
              <a:t>Sources: CESM2-LENS2; Danabasoglu et al. (2020); Rodgers et al. (2021)</a:t>
            </a:r>
            <a:endParaRPr lang="en-US" altLang="zh-CN" i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Task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1025434"/>
            <a:ext cx="896112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TREFMXAV_U for January 2050 to December 2080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supervised machine learning model.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2006–2049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8 other climate variables (TREFHT, FSNS, QBOT, FLNS, UBOT, VBOT, PRECT, PRSN) as features</a:t>
            </a:r>
            <a:endParaRPr lang="en-US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on 2050–2080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TREFMXAV_U exists in the data for this period, so we can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predictions against the actual values</a:t>
            </a:r>
            <a:endParaRPr lang="en-US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TREFMXAV_U is NOT used as a feature. The model must learn to predict it purely from the other climate variables.</a:t>
            </a: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EDA: Annual Mean Temperature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74914" y="3900353"/>
            <a:ext cx="8595360" cy="30773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ensemble members show a clear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warming trend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mean rises from roughly 10°C to 12°C over 2006–2080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dashed line at 2050 marks where we split training and prediction data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 between members shows natural climate noise</a:t>
            </a:r>
            <a:endParaRPr lang="en-US" dirty="0"/>
          </a:p>
        </p:txBody>
      </p:sp>
      <p:pic>
        <p:nvPicPr>
          <p:cNvPr id="7" name="图片 6" descr="eda_01_annual_timeseri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39" y="822961"/>
            <a:ext cx="8001219" cy="30773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EDA: Warming Trend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17920" y="11887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5D3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+0.3°C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217920" y="18288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decade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25603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5D3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+2.2°C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217920" y="320040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warming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to 2080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39319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linear upward trend</a:t>
            </a:r>
            <a:endParaRPr lang="en-US" sz="1100" dirty="0"/>
          </a:p>
        </p:txBody>
      </p:sp>
      <p:pic>
        <p:nvPicPr>
          <p:cNvPr id="12" name="图片 11" descr="eda_02_warming_tren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86989"/>
            <a:ext cx="6415977" cy="24677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EDA: Seasonal Warming Pattern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834742" y="1034684"/>
            <a:ext cx="3309258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months warm more than winter months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shift: August at +2.4°C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shift: December at +1.1°C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uneven seasonal warming is an important finding for impact assessment</a:t>
            </a:r>
            <a:endParaRPr lang="en-US" dirty="0"/>
          </a:p>
        </p:txBody>
      </p:sp>
      <p:pic>
        <p:nvPicPr>
          <p:cNvPr id="7" name="图片 6" descr="eda_03_seasonal_cyc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37" y="1097279"/>
            <a:ext cx="5946396" cy="3469277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6246223" y="1786345"/>
            <a:ext cx="2714897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>
            <a:off x="5907677" y="3211285"/>
            <a:ext cx="2694215" cy="987334"/>
          </a:xfrm>
          <a:prstGeom prst="round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EDA: Distribution Shift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75812" y="1581694"/>
            <a:ext cx="3157946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distribution shifts to the right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mean: ~10.5°C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mean: ~12.2°C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Shift: approximately +1.6°C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 confirms the difference is statistically significant (p &lt; 0.05)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图片 6" descr="eda_04_distribu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14" y="1490254"/>
            <a:ext cx="5983008" cy="27192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EDA: Ensemble Spread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5792" y="4091940"/>
            <a:ext cx="8811123" cy="3429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band shows the range across all 6 ensemble members</a:t>
            </a:r>
            <a:endParaRPr lang="en-US" dirty="0"/>
          </a:p>
          <a:p>
            <a:pPr marL="0" indent="0">
              <a:lnSpc>
                <a:spcPts val="1200"/>
              </a:lnSpc>
              <a:buNone/>
            </a:pPr>
            <a:endParaRPr lang="en-US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climate variability is present, but the warming signal is clear above the noise</a:t>
            </a:r>
            <a:endParaRPr lang="en-US" dirty="0"/>
          </a:p>
          <a:p>
            <a:pPr marL="0" indent="0">
              <a:lnSpc>
                <a:spcPts val="1200"/>
              </a:lnSpc>
              <a:buNone/>
            </a:pPr>
            <a:endParaRPr lang="en-US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spread helps us understand uncertainty in the predictions</a:t>
            </a:r>
            <a:endParaRPr lang="en-US" dirty="0"/>
          </a:p>
        </p:txBody>
      </p:sp>
      <p:pic>
        <p:nvPicPr>
          <p:cNvPr id="7" name="图片 6" descr="eda_05_ensemble_spre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22960"/>
            <a:ext cx="8262487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EDA: Increasing Hot Days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2771" y="4128405"/>
            <a:ext cx="8047809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days per year exceeding 20°C, 25°C, and 30°C thresholds</a:t>
            </a: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increase in hot days in the projected period</a:t>
            </a: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to heat-related health risks and infrastructure planning for Manchester</a:t>
            </a: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7" name="图片 6" descr="eda_06_hot_day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298" y="877932"/>
            <a:ext cx="8322554" cy="3200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EDA: Feature Correlations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4572000" cy="3200400"/>
          </a:xfrm>
          <a:prstGeom prst="rect">
            <a:avLst/>
          </a:prstGeom>
          <a:solidFill>
            <a:srgbClr val="E8F1F5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eda_07_correlations.png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0" y="1097280"/>
            <a:ext cx="338328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TREFHT (mean temp)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0.99 — strongest predictor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FSNS (solar radiation)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correlated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QBOT (humidity)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positively correlated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PRSN (snowfall)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negatively correlated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correlations informed our feature selection for the ML model</a:t>
            </a:r>
            <a:endParaRPr lang="en-US" dirty="0"/>
          </a:p>
        </p:txBody>
      </p:sp>
      <p:pic>
        <p:nvPicPr>
          <p:cNvPr id="7" name="图片 6" descr="eda_07_correlation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90" y="1097280"/>
            <a:ext cx="5358605" cy="3349534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5562600" y="4322717"/>
            <a:ext cx="3213463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562600" y="1840774"/>
            <a:ext cx="3213463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562600" y="2651760"/>
            <a:ext cx="3213463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562600" y="3484517"/>
            <a:ext cx="3213463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Machine Learning Approach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3840480" cy="2011680"/>
          </a:xfrm>
          <a:prstGeom prst="rect">
            <a:avLst/>
          </a:prstGeom>
          <a:solidFill>
            <a:srgbClr val="E8F1F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347472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Features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data: TREFHT, FSNS, QBOT, FLNS, UBOT, VBOT, PRECT, PRSN</a:t>
            </a:r>
            <a:endParaRPr lang="en-US" i="1" dirty="0"/>
          </a:p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Engineered: sin(doy), cos(doy), normalised year</a:t>
            </a:r>
            <a:endParaRPr lang="en-US" sz="1500" i="1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2011680"/>
          </a:xfrm>
          <a:prstGeom prst="rect">
            <a:avLst/>
          </a:prstGeom>
          <a:solidFill>
            <a:srgbClr val="E8F1F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37760" y="1188720"/>
            <a:ext cx="347472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2006–2049 (96,354 samples)</a:t>
            </a:r>
            <a:endParaRPr lang="en-US" sz="1600" i="1" dirty="0"/>
          </a:p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2050–2080 (67,890 samples)</a:t>
            </a:r>
            <a:endParaRPr lang="en-US" sz="1600" i="1" dirty="0"/>
          </a:p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random — strict temporal separation</a:t>
            </a:r>
            <a:endParaRPr lang="en-US" sz="1500" i="1" dirty="0"/>
          </a:p>
        </p:txBody>
      </p:sp>
      <p:sp>
        <p:nvSpPr>
          <p:cNvPr id="9" name="Text 7"/>
          <p:cNvSpPr/>
          <p:nvPr/>
        </p:nvSpPr>
        <p:spPr>
          <a:xfrm>
            <a:off x="548640" y="3298371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tested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7432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baseline. Features standardised with StandardScaler.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3749040"/>
            <a:ext cx="27432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trees, max depth 15. Captures non-linear patterns.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3749040"/>
            <a:ext cx="27432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estimators, learning rate 0.05. Sequential correction of errors.</a:t>
            </a:r>
            <a:endParaRPr lang="en-US" sz="1400" dirty="0"/>
          </a:p>
        </p:txBody>
      </p:sp>
      <p:cxnSp>
        <p:nvCxnSpPr>
          <p:cNvPr id="14" name="直接连接符 13"/>
          <p:cNvCxnSpPr/>
          <p:nvPr/>
        </p:nvCxnSpPr>
        <p:spPr>
          <a:xfrm>
            <a:off x="2960914" y="3494314"/>
            <a:ext cx="5885906" cy="0"/>
          </a:xfrm>
          <a:prstGeom prst="line">
            <a:avLst/>
          </a:prstGeom>
          <a:ln w="76200">
            <a:solidFill>
              <a:srgbClr val="1B3A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3380015" y="3830682"/>
            <a:ext cx="0" cy="60960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161315" y="3830682"/>
            <a:ext cx="0" cy="60960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51180" y="4748530"/>
            <a:ext cx="6375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solidFill>
                  <a:srgbClr val="FF0000"/>
                </a:solidFill>
              </a:rPr>
              <a:t>ML implemented using scikit-learn (Pedregosa et al., 2011)</a:t>
            </a:r>
            <a:endParaRPr lang="en-US" altLang="zh-CN" i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Results: Model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642257" y="987878"/>
          <a:ext cx="7522029" cy="2212522"/>
        </p:xfrm>
        <a:graphic>
          <a:graphicData uri="http://schemas.openxmlformats.org/drawingml/2006/table">
            <a:tbl>
              <a:tblPr/>
              <a:tblGrid>
                <a:gridCol w="2820761"/>
                <a:gridCol w="1598431"/>
                <a:gridCol w="1598431"/>
                <a:gridCol w="1504406"/>
              </a:tblGrid>
              <a:tr h="5979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MAE (°C)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RMSE (°C)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538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Ridge Regression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0.602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0.788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0.979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0.513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0.682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D6A4F"/>
                          </a:solidFill>
                        </a:rPr>
                        <a:t>0.984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Gradient Boosting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~0.50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~0.67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~0.984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2643" y="3496491"/>
            <a:ext cx="8071757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achieve R² &gt; 0.97, meaning they explain over 97% of the variance in daily max temperature.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performed best overall with the lowest MAE (0.51°C) and highest R² (0.984).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Results: Actual vs Predicted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53446" y="1374866"/>
            <a:ext cx="3341914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cluster tightly around the 1:1 line, indicating accurate predictions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scatter at extreme high and low temperatures, which is expected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the model captures the full temperature range well</a:t>
            </a:r>
            <a:endParaRPr lang="en-US" dirty="0"/>
          </a:p>
        </p:txBody>
      </p:sp>
      <p:pic>
        <p:nvPicPr>
          <p:cNvPr id="7" name="图片 6" descr="ml_01_scat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114" y="883557"/>
            <a:ext cx="4259943" cy="42599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Results: Annual Means 2050–2080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4213" y="4191000"/>
            <a:ext cx="8895987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track the actual annual means closely year by year</a:t>
            </a: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captures both the overall warming trend and interannual variability</a:t>
            </a: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shows the model generalises well to unseen future data</a:t>
            </a: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7" name="图片 6" descr="ml_02_annual_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122" y="968006"/>
            <a:ext cx="8003358" cy="30779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Results: Residual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30044" y="4134394"/>
            <a:ext cx="9062595" cy="91766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residuals vs fitted values show no obvious pattern, which is a good sign</a:t>
            </a: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residual distribution is roughly normal and centred near zero</a:t>
            </a: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bias in the predictions</a:t>
            </a: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7" name="图片 6" descr="ml_03_residua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069" y="914400"/>
            <a:ext cx="7085576" cy="2952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Results: Feature Importance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49896" y="1247822"/>
            <a:ext cx="2994103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TREFHT dominates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daily mean temp is the strongest predictor of daily max temp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radiation (FSNS) and day-of-year encoding also contribute meaningfully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and precipitation features have lower importance but still add predictive value</a:t>
            </a:r>
            <a:endParaRPr lang="en-US" sz="1600" dirty="0"/>
          </a:p>
        </p:txBody>
      </p:sp>
      <p:pic>
        <p:nvPicPr>
          <p:cNvPr id="7" name="图片 6" descr="ml_04_feature_importa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7806" y="1027755"/>
            <a:ext cx="6294671" cy="39345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47741" y="209211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562" y="692194"/>
            <a:ext cx="7874876" cy="272940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endParaRPr lang="en-US" dirty="0"/>
          </a:p>
          <a:p>
            <a:pPr algn="ctr">
              <a:buSzPct val="100000"/>
            </a:pPr>
            <a:r>
              <a:rPr lang="en-US" sz="2400" dirty="0">
                <a:solidFill>
                  <a:srgbClr val="9D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specific research question</a:t>
            </a:r>
            <a:endParaRPr lang="en-US" sz="2400" dirty="0">
              <a:solidFill>
                <a:srgbClr val="9DB5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buSzPct val="100000"/>
            </a:pPr>
            <a:endParaRPr lang="en-US" sz="2800" dirty="0"/>
          </a:p>
          <a:p>
            <a:pPr algn="ctr">
              <a:buSzPct val="100000"/>
            </a:pPr>
            <a:endParaRPr lang="en-US" sz="2800" dirty="0"/>
          </a:p>
          <a:p>
            <a:pPr algn="ctr">
              <a:buSzPct val="100000"/>
            </a:pPr>
            <a:endParaRPr lang="en-US" sz="2400" dirty="0">
              <a:solidFill>
                <a:srgbClr val="9DB5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buSzPct val="100000"/>
            </a:pPr>
            <a:endParaRPr lang="en-US" sz="2400" dirty="0">
              <a:solidFill>
                <a:srgbClr val="9DB5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buSzPct val="100000"/>
            </a:pPr>
            <a:endParaRPr lang="en-US" sz="2400" dirty="0">
              <a:solidFill>
                <a:srgbClr val="9DB5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buSzPct val="100000"/>
            </a:pPr>
            <a:r>
              <a:rPr lang="en-US" altLang="zh-CN" sz="2400" dirty="0">
                <a:solidFill>
                  <a:srgbClr val="9D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same EDA + ML framework from temperature to QBOT.</a:t>
            </a:r>
            <a:endParaRPr lang="en-US" altLang="zh-CN" sz="2400" dirty="0">
              <a:solidFill>
                <a:srgbClr val="9DB5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buSzPct val="100000"/>
            </a:pPr>
            <a:endParaRPr lang="en-US" altLang="zh-CN" sz="2400" dirty="0">
              <a:solidFill>
                <a:srgbClr val="9DB5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buSzPct val="100000"/>
            </a:pPr>
            <a:endParaRPr lang="en-US" altLang="zh-CN" sz="2400" dirty="0"/>
          </a:p>
        </p:txBody>
      </p:sp>
      <p:sp>
        <p:nvSpPr>
          <p:cNvPr id="6" name="箭头: 下 5"/>
          <p:cNvSpPr/>
          <p:nvPr/>
        </p:nvSpPr>
        <p:spPr>
          <a:xfrm>
            <a:off x="4431665" y="4121785"/>
            <a:ext cx="281305" cy="36576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下箭头标注 8"/>
          <p:cNvSpPr/>
          <p:nvPr/>
        </p:nvSpPr>
        <p:spPr>
          <a:xfrm>
            <a:off x="858432" y="1423714"/>
            <a:ext cx="7427135" cy="1915992"/>
          </a:xfrm>
          <a:prstGeom prst="downArrowCallout">
            <a:avLst>
              <a:gd name="adj1" fmla="val 19240"/>
              <a:gd name="adj2" fmla="val 22120"/>
              <a:gd name="adj3" fmla="val 25000"/>
              <a:gd name="adj4" fmla="val 6497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GB" altLang="zh-CN" dirty="0">
                <a:solidFill>
                  <a:schemeClr val="tx1"/>
                </a:solidFill>
              </a:rPr>
              <a:t>How does near-surface specific humidity evolve in Manchester from the historical period (2006–2049) to the future projection period (2050–2080), and how does its coupling with temperature influence the frequency of compound hot-humid events?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6390" y="4568825"/>
            <a:ext cx="8491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solidFill>
                  <a:schemeClr val="accent5">
                    <a:lumMod val="40000"/>
                    <a:lumOff val="60000"/>
                  </a:schemeClr>
                </a:solidFill>
              </a:rPr>
              <a:t>Compound hot-humid days and QBOT model diagnostics</a:t>
            </a:r>
            <a:endParaRPr lang="en-US" altLang="zh-CN" sz="24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en-US" altLang="zh-CN" dirty="0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7" name="文本框 6"/>
          <p:cNvSpPr txBox="1"/>
          <p:nvPr/>
        </p:nvSpPr>
        <p:spPr>
          <a:xfrm>
            <a:off x="423544" y="1708150"/>
            <a:ext cx="866330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EDA: trend, mean change, seasonal cycle, temperature-humidity relationship, and compound hot-humid days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Modelling: same train-test split and model comparison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Focus on moisture change and hot-humid risk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Ablation test </a:t>
            </a:r>
            <a:r>
              <a:rPr lang="en-US" altLang="zh-CN" dirty="0"/>
              <a:t>used to check dependence on temperature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0" y="1096645"/>
            <a:ext cx="616013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9560" indent="-86360">
              <a:spcBef>
                <a:spcPts val="800"/>
              </a:spcBef>
              <a:spcAft>
                <a:spcPct val="0"/>
              </a:spcAft>
            </a:pPr>
            <a:r>
              <a:rPr lang="en-US" altLang="zh-CN" sz="2000" b="1" i="1" dirty="0"/>
              <a:t>Application of the Framework to QBOT (Humidity)</a:t>
            </a:r>
            <a:endParaRPr lang="en-US" altLang="zh-CN" sz="2000" b="1" i="1" dirty="0"/>
          </a:p>
        </p:txBody>
      </p:sp>
      <p:sp>
        <p:nvSpPr>
          <p:cNvPr id="5" name="文本框 4"/>
          <p:cNvSpPr txBox="1"/>
          <p:nvPr/>
        </p:nvSpPr>
        <p:spPr>
          <a:xfrm>
            <a:off x="298450" y="20419"/>
            <a:ext cx="8534400" cy="12926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indent="0">
              <a:buNone/>
              <a:defRPr sz="2600" b="1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defRPr>
            </a:lvl1pPr>
          </a:lstStyle>
          <a:p>
            <a:r>
              <a:rPr lang="en-US" altLang="zh-CN" dirty="0"/>
              <a:t>QBOT:  'side effect' of heat or independent pattern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三角形 7"/>
          <p:cNvSpPr/>
          <p:nvPr/>
        </p:nvSpPr>
        <p:spPr>
          <a:xfrm>
            <a:off x="173354" y="2167387"/>
            <a:ext cx="250190" cy="17004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三角形 9"/>
          <p:cNvSpPr/>
          <p:nvPr/>
        </p:nvSpPr>
        <p:spPr>
          <a:xfrm>
            <a:off x="173354" y="2905190"/>
            <a:ext cx="250190" cy="17004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三角形 10"/>
          <p:cNvSpPr/>
          <p:nvPr/>
        </p:nvSpPr>
        <p:spPr>
          <a:xfrm>
            <a:off x="173354" y="3467998"/>
            <a:ext cx="250190" cy="17004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三角形 11"/>
          <p:cNvSpPr/>
          <p:nvPr/>
        </p:nvSpPr>
        <p:spPr>
          <a:xfrm>
            <a:off x="173354" y="4030438"/>
            <a:ext cx="250190" cy="17004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</a:rPr>
              <a:t>       </a:t>
            </a:r>
            <a:r>
              <a:rPr lang="en-US" altLang="zh-CN" sz="2600" b="1" dirty="0">
                <a:solidFill>
                  <a:srgbClr val="FFFFFF"/>
                </a:solidFill>
                <a:latin typeface="Georgia" panose="02040502050405090303" pitchFamily="34" charset="0"/>
              </a:rPr>
              <a:t>Long-term QBOT Trend</a:t>
            </a:r>
            <a:endParaRPr lang="en-US" altLang="zh-CN" sz="2600" b="1" dirty="0">
              <a:solidFill>
                <a:srgbClr val="FFFFFF"/>
              </a:solidFill>
              <a:latin typeface="Georgia" panose="020405020504050903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8" name="图片 7" descr="qbot_02_tren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995" y="875030"/>
            <a:ext cx="7279005" cy="27990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50265" y="3815715"/>
            <a:ext cx="6522720" cy="1093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SzPct val="100000"/>
              <a:buChar char="•"/>
            </a:pPr>
            <a:r>
              <a:rPr lang="en-US" altLang="zh-CN" sz="1600" dirty="0"/>
              <a:t>Annual mean QBOT increases over time</a:t>
            </a:r>
            <a:endParaRPr lang="en-US" altLang="zh-CN" sz="1600" dirty="0"/>
          </a:p>
          <a:p>
            <a:pPr marL="342900" indent="-342900">
              <a:buSzPct val="100000"/>
              <a:buChar char="•"/>
            </a:pPr>
            <a:r>
              <a:rPr lang="en-US" altLang="zh-CN" sz="1600" dirty="0"/>
              <a:t>Clear moistening trend in Manchester</a:t>
            </a:r>
            <a:endParaRPr lang="en-US" altLang="zh-CN" sz="1600" dirty="0"/>
          </a:p>
          <a:p>
            <a:pPr marL="342900" indent="-342900">
              <a:buSzPct val="100000"/>
              <a:buChar char="•"/>
            </a:pPr>
            <a:r>
              <a:rPr lang="en-US" altLang="zh-CN" sz="1600" dirty="0"/>
              <a:t>Trend: +0.152 g/kg per decade</a:t>
            </a:r>
            <a:endParaRPr lang="en-US" altLang="zh-CN" sz="1600" dirty="0"/>
          </a:p>
          <a:p>
            <a:pPr marL="342900" indent="-342900">
              <a:buSzPct val="100000"/>
              <a:buChar char="•"/>
            </a:pPr>
            <a:r>
              <a:rPr lang="en-US" altLang="zh-CN" sz="1600" dirty="0"/>
              <a:t>Future climate becomes progressively more humid</a:t>
            </a:r>
            <a:endParaRPr lang="en-US" altLang="zh-CN" sz="1600" dirty="0"/>
          </a:p>
          <a:p>
            <a:pPr marL="342900" indent="-342900">
              <a:buSzPct val="100000"/>
              <a:buChar char="•"/>
            </a:pPr>
            <a:endParaRPr lang="en-US" altLang="zh-CN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</a:rPr>
              <a:t>   </a:t>
            </a:r>
            <a:r>
              <a:rPr lang="en-US" altLang="zh-CN" sz="2600" b="1" dirty="0">
                <a:solidFill>
                  <a:srgbClr val="FFFFFF"/>
                </a:solidFill>
                <a:latin typeface="Georgia" panose="02040502050405090303" pitchFamily="34" charset="0"/>
              </a:rPr>
              <a:t>Historical vs Future Mean QBOT</a:t>
            </a:r>
            <a:endParaRPr lang="en-US" altLang="zh-CN" sz="2600" b="1" dirty="0">
              <a:solidFill>
                <a:srgbClr val="FFFFFF"/>
              </a:solidFill>
              <a:latin typeface="Georgia" panose="020405020504050903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/>
              <a:t>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1480820"/>
            <a:ext cx="2926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zh-CN" dirty="0"/>
              <a:t>Mean QBOT rises from </a:t>
            </a:r>
            <a:r>
              <a:rPr lang="en-US" altLang="zh-CN" b="1" dirty="0"/>
              <a:t>6.30 g/kg </a:t>
            </a:r>
            <a:r>
              <a:rPr lang="en-US" altLang="zh-CN" dirty="0"/>
              <a:t>to </a:t>
            </a:r>
            <a:r>
              <a:rPr lang="en-US" altLang="zh-CN" b="1" dirty="0"/>
              <a:t>6.89 g/kg</a:t>
            </a:r>
            <a:endParaRPr lang="en-US" altLang="zh-CN" b="1" dirty="0"/>
          </a:p>
          <a:p>
            <a:pPr marL="342900" indent="-342900">
              <a:buSzPct val="100000"/>
              <a:buChar char="•"/>
            </a:pPr>
            <a:endParaRPr lang="en-US" altLang="zh-CN" dirty="0"/>
          </a:p>
          <a:p>
            <a:pPr marL="342900" indent="-342900">
              <a:buSzPct val="100000"/>
              <a:buChar char="•"/>
            </a:pPr>
            <a:r>
              <a:rPr lang="en-US" altLang="zh-CN" dirty="0"/>
              <a:t>Future Manchester is more humid on average</a:t>
            </a:r>
            <a:endParaRPr lang="en-US" altLang="zh-CN" dirty="0"/>
          </a:p>
          <a:p>
            <a:pPr marL="342900" indent="-342900">
              <a:buSzPct val="100000"/>
              <a:buChar char="•"/>
            </a:pPr>
            <a:endParaRPr lang="en-US" altLang="zh-CN" dirty="0"/>
          </a:p>
          <a:p>
            <a:pPr marL="342900" indent="-342900">
              <a:buSzPct val="100000"/>
              <a:buChar char="•"/>
            </a:pPr>
            <a:r>
              <a:rPr lang="en-US" altLang="zh-CN" dirty="0"/>
              <a:t>This shows a clear shift in background moisture level</a:t>
            </a:r>
            <a:endParaRPr lang="en-US" altLang="zh-CN" dirty="0"/>
          </a:p>
        </p:txBody>
      </p:sp>
      <p:pic>
        <p:nvPicPr>
          <p:cNvPr id="8" name="图片 7" descr="qbot_03_mean_chan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79" y="1097280"/>
            <a:ext cx="5874221" cy="36715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13690" y="3073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  <a:sym typeface="+mn-ea"/>
              </a:rPr>
              <a:t> Monthly QBOT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21400" y="1242586"/>
            <a:ext cx="2926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zh-CN" dirty="0"/>
              <a:t>QBOT increases in every month</a:t>
            </a:r>
            <a:endParaRPr lang="en-US" altLang="zh-CN" dirty="0"/>
          </a:p>
          <a:p>
            <a:pPr marL="342900" indent="-342900">
              <a:buSzPct val="100000"/>
              <a:buChar char="•"/>
            </a:pPr>
            <a:endParaRPr lang="en-US" altLang="zh-CN" dirty="0"/>
          </a:p>
          <a:p>
            <a:pPr marL="342900" indent="-342900">
              <a:buSzPct val="100000"/>
              <a:buChar char="•"/>
            </a:pPr>
            <a:r>
              <a:rPr lang="en-US" altLang="zh-CN" dirty="0"/>
              <a:t>The largest increase occurs in </a:t>
            </a:r>
            <a:r>
              <a:rPr lang="en-US" altLang="zh-CN" b="1" dirty="0"/>
              <a:t>summer</a:t>
            </a:r>
            <a:endParaRPr lang="en-US" altLang="zh-CN" b="1" dirty="0"/>
          </a:p>
          <a:p>
            <a:pPr marL="342900" indent="-342900">
              <a:buSzPct val="100000"/>
              <a:buChar char="•"/>
            </a:pPr>
            <a:endParaRPr lang="en-US" altLang="zh-CN" dirty="0"/>
          </a:p>
          <a:p>
            <a:pPr marL="342900" indent="-342900">
              <a:buSzPct val="100000"/>
              <a:buChar char="•"/>
            </a:pPr>
            <a:r>
              <a:rPr lang="en-US" altLang="zh-CN" dirty="0"/>
              <a:t>July and August show the strongest moistening</a:t>
            </a:r>
            <a:endParaRPr lang="en-US" altLang="zh-CN" dirty="0"/>
          </a:p>
          <a:p>
            <a:pPr marL="342900" indent="-342900">
              <a:buSzPct val="100000"/>
              <a:buChar char="•"/>
            </a:pPr>
            <a:endParaRPr lang="en-US" altLang="zh-CN" dirty="0"/>
          </a:p>
          <a:p>
            <a:pPr marL="342900" indent="-342900">
              <a:buSzPct val="100000"/>
              <a:buChar char="•"/>
            </a:pPr>
            <a:r>
              <a:rPr lang="en-US" altLang="zh-CN" dirty="0"/>
              <a:t>Warm-season humidity change is especially important</a:t>
            </a:r>
            <a:endParaRPr lang="en-US" altLang="zh-CN" dirty="0"/>
          </a:p>
        </p:txBody>
      </p:sp>
      <p:pic>
        <p:nvPicPr>
          <p:cNvPr id="8" name="图片 7" descr="qbot_04_seasonal_cyc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71880"/>
            <a:ext cx="6071870" cy="35418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1097280"/>
            <a:ext cx="2926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>
              <a:buSzPct val="100000"/>
              <a:buNone/>
            </a:pPr>
            <a:endParaRPr lang="en-US" sz="1300" dirty="0"/>
          </a:p>
        </p:txBody>
      </p:sp>
      <p:pic>
        <p:nvPicPr>
          <p:cNvPr id="5" name="图片 4" descr="qbot_ml_05_seasonal_ski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162" y="947103"/>
            <a:ext cx="7385287" cy="276988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0" y="3876064"/>
            <a:ext cx="9323070" cy="2868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000" dirty="0"/>
              <a:t>Errors are lowest in winter /  highest in summer.         </a:t>
            </a:r>
            <a:endParaRPr lang="en-US" altLang="zh-CN" sz="2000" dirty="0"/>
          </a:p>
          <a:p>
            <a:pPr algn="ctr"/>
            <a:endParaRPr lang="en-US" altLang="zh-CN" sz="2000" dirty="0"/>
          </a:p>
          <a:p>
            <a:pPr algn="ctr"/>
            <a:r>
              <a:rPr lang="en-US" altLang="zh-CN" sz="2000" dirty="0"/>
              <a:t>Summer humidity is the hardest to predict   </a:t>
            </a:r>
            <a:r>
              <a:rPr lang="en-US" altLang="zh-CN" sz="2800" dirty="0"/>
              <a:t>    </a:t>
            </a:r>
            <a:endParaRPr lang="en-US" altLang="zh-CN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473710" y="227330"/>
            <a:ext cx="3048000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indent="0">
              <a:buNone/>
              <a:defRPr sz="2600" b="1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defRPr>
            </a:lvl1pPr>
          </a:lstStyle>
          <a:p>
            <a:r>
              <a:rPr lang="en-US" altLang="zh-CN" dirty="0"/>
              <a:t>QBOT Seasonal</a:t>
            </a:r>
            <a:endParaRPr lang="en-US" altLang="zh-CN" dirty="0"/>
          </a:p>
        </p:txBody>
      </p:sp>
      <p:sp>
        <p:nvSpPr>
          <p:cNvPr id="12" name="箭头: 下 11"/>
          <p:cNvSpPr/>
          <p:nvPr/>
        </p:nvSpPr>
        <p:spPr>
          <a:xfrm>
            <a:off x="4479805" y="4230370"/>
            <a:ext cx="336550" cy="4330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Temperature-Humidity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/>
              <a:t>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93030" y="1174115"/>
            <a:ext cx="3684270" cy="3489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dirty="0"/>
              <a:t>Hotter days also tend to be more humid</a:t>
            </a: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dirty="0"/>
              <a:t>Strong positive relationship between Tmax and QBOT</a:t>
            </a: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dirty="0"/>
              <a:t>Pearson r = 0.791</a:t>
            </a: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dirty="0"/>
              <a:t>Later years appear more often in the hot-humid region</a:t>
            </a: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 dirty="0"/>
          </a:p>
        </p:txBody>
      </p:sp>
      <p:pic>
        <p:nvPicPr>
          <p:cNvPr id="7" name="图片 6" descr="qbot_09_temp_humidity_joi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630" y="1024890"/>
            <a:ext cx="4851400" cy="36385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Compound Hot-Humid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/>
              <a:t>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1097280"/>
            <a:ext cx="2926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altLang="zh-CN" sz="1300" dirty="0"/>
          </a:p>
        </p:txBody>
      </p:sp>
      <p:pic>
        <p:nvPicPr>
          <p:cNvPr id="7" name="图片 6" descr="qbot_10_compound_hot_humid_day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7904808" cy="30403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78460" y="3787170"/>
            <a:ext cx="8765540" cy="156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marL="342900" indent="-342900">
              <a:buSzPct val="100000"/>
              <a:buChar char="•"/>
              <a:defRPr sz="1600"/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Compound hot-humid days = both Tmax and QBOT above historical P90 thresholds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Frequency increases clearly after 2050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Indicates rising risk of simultaneous heat and humidity extremes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i="1" dirty="0">
                <a:solidFill>
                  <a:srgbClr val="FF0000"/>
                </a:solidFill>
              </a:rPr>
              <a:t>Compound humid heat context: Sherwood &amp; Huber (2010); Raymond et al. (2020)</a:t>
            </a:r>
            <a:endParaRPr lang="en-US" altLang="zh-CN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9776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1097280"/>
            <a:ext cx="2926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>
              <a:buSzPct val="100000"/>
              <a:buNone/>
            </a:pPr>
            <a:endParaRPr lang="en-US" sz="1300" dirty="0"/>
          </a:p>
        </p:txBody>
      </p:sp>
      <p:sp>
        <p:nvSpPr>
          <p:cNvPr id="8" name="文本框 7"/>
          <p:cNvSpPr txBox="1"/>
          <p:nvPr/>
        </p:nvSpPr>
        <p:spPr>
          <a:xfrm>
            <a:off x="742627" y="4480765"/>
            <a:ext cx="78530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Removing Tmax alone has little impact.</a:t>
            </a:r>
            <a:endParaRPr lang="en-US" altLang="zh-CN" dirty="0"/>
          </a:p>
          <a:p>
            <a:r>
              <a:rPr lang="en-US" altLang="zh-CN" dirty="0"/>
              <a:t>Removing both Tmax and TREFHT clearly reduces model performance.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10" name="文本框 9"/>
          <p:cNvSpPr txBox="1"/>
          <p:nvPr/>
        </p:nvSpPr>
        <p:spPr>
          <a:xfrm>
            <a:off x="528954" y="-54572"/>
            <a:ext cx="8748395" cy="892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indent="0">
              <a:buNone/>
              <a:defRPr sz="2600" b="1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defRPr>
            </a:lvl1pPr>
          </a:lstStyle>
          <a:p>
            <a:r>
              <a:rPr lang="en-US" altLang="zh-CN" dirty="0"/>
              <a:t>QBOT Best-Model:  Ablation Test</a:t>
            </a:r>
            <a:endParaRPr lang="en-US" altLang="zh-CN" dirty="0"/>
          </a:p>
        </p:txBody>
      </p:sp>
      <p:sp>
        <p:nvSpPr>
          <p:cNvPr id="5" name="矩形: 圆角 4"/>
          <p:cNvSpPr/>
          <p:nvPr/>
        </p:nvSpPr>
        <p:spPr>
          <a:xfrm>
            <a:off x="1473834" y="3893985"/>
            <a:ext cx="2851149" cy="586575"/>
          </a:xfrm>
          <a:prstGeom prst="roundRect">
            <a:avLst/>
          </a:prstGeom>
          <a:solidFill>
            <a:srgbClr val="4682B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</a:t>
            </a:r>
            <a:r>
              <a:rPr lang="en-US" altLang="en-US" dirty="0"/>
              <a:t>²</a:t>
            </a:r>
            <a:r>
              <a:rPr lang="en-US" altLang="zh-CN" dirty="0"/>
              <a:t> drops </a:t>
            </a:r>
            <a:r>
              <a:rPr lang="en-US" altLang="zh-CN" dirty="0"/>
              <a:t>clearly</a:t>
            </a:r>
            <a:endParaRPr lang="en-US" altLang="zh-CN" dirty="0"/>
          </a:p>
        </p:txBody>
      </p:sp>
      <p:sp>
        <p:nvSpPr>
          <p:cNvPr id="9" name="矩形: 圆角 8"/>
          <p:cNvSpPr/>
          <p:nvPr/>
        </p:nvSpPr>
        <p:spPr>
          <a:xfrm>
            <a:off x="5257363" y="3893985"/>
            <a:ext cx="2851149" cy="586575"/>
          </a:xfrm>
          <a:prstGeom prst="roundRect">
            <a:avLst/>
          </a:prstGeom>
          <a:solidFill>
            <a:srgbClr val="4682B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RMSE increases </a:t>
            </a:r>
            <a:r>
              <a:rPr lang="en-US" altLang="zh-CN" dirty="0"/>
              <a:t>strongly</a:t>
            </a:r>
            <a:endParaRPr lang="en-US" altLang="zh-CN" dirty="0"/>
          </a:p>
        </p:txBody>
      </p:sp>
      <p:pic>
        <p:nvPicPr>
          <p:cNvPr id="11" name="图片 10" descr="qbot_ml_06_ablation_compa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315" y="842010"/>
            <a:ext cx="7853045" cy="28987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03" y="91440"/>
            <a:ext cx="6075342" cy="5381753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03570" y="971550"/>
            <a:ext cx="2926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>
              <a:buSzPct val="100000"/>
              <a:buNone/>
            </a:pPr>
            <a:endParaRPr lang="en-US" sz="1300" dirty="0"/>
          </a:p>
        </p:txBody>
      </p:sp>
      <p:pic>
        <p:nvPicPr>
          <p:cNvPr id="11" name="图片 10" descr="ml_01_scat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7136" y="26541"/>
            <a:ext cx="2572514" cy="2572514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329500" y="143763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Summary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2"/>
          <p:cNvSpPr/>
          <p:nvPr/>
        </p:nvSpPr>
        <p:spPr>
          <a:xfrm>
            <a:off x="202760" y="927606"/>
            <a:ext cx="570081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supervised ML model successfully predicts TREFMXAV_U for 2050–2080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achieves R² = 0.984 with MAE of just 0.51°C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EDA revealed a clear warming trend (+0.3°C/decade), uneven seasonal warming, and increasing extreme heat days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becomes warmer and more humid, with the strongest moistening in warm season.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defRPr/>
            </a:pPr>
            <a:endParaRPr lang="en-US" sz="14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lvl="0" indent="-342900">
              <a:lnSpc>
                <a:spcPts val="1380"/>
              </a:lnSpc>
              <a:buSzPct val="100000"/>
              <a:buFontTx/>
              <a:buChar char="•"/>
              <a:defRPr/>
            </a:pPr>
            <a:r>
              <a:rPr lang="en-US" altLang="zh-CN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Humidity and temperature provide related but not identical information, so they can offer complementary signals for the model.</a:t>
            </a:r>
            <a:endParaRPr lang="en-US" altLang="zh-CN" sz="14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342900" lvl="0" indent="-342900">
              <a:lnSpc>
                <a:spcPts val="1380"/>
              </a:lnSpc>
              <a:buSzPct val="100000"/>
              <a:buFontTx/>
              <a:buChar char="•"/>
              <a:defRPr/>
            </a:pPr>
            <a:endParaRPr lang="en-US" altLang="zh-CN" sz="14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342900" lvl="0" indent="-342900">
              <a:lnSpc>
                <a:spcPts val="1380"/>
              </a:lnSpc>
              <a:buSzPct val="100000"/>
              <a:buFontTx/>
              <a:buChar char="•"/>
              <a:defRPr/>
            </a:pPr>
            <a:r>
              <a:rPr lang="en-GB" altLang="zh-CN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The model demonstrates a robust feature utilization pattern: It avoids over-reliance on any single variable, suggesting good generalization capability.</a:t>
            </a:r>
            <a:endParaRPr lang="en-GB" altLang="zh-CN" sz="14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342900" lvl="0" indent="-342900">
              <a:lnSpc>
                <a:spcPts val="1380"/>
              </a:lnSpc>
              <a:buSzPct val="100000"/>
              <a:buFontTx/>
              <a:buChar char="•"/>
              <a:defRPr/>
            </a:pPr>
            <a:endParaRPr lang="en-GB" altLang="zh-CN" sz="14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ts val="1380"/>
              </a:lnSpc>
              <a:buSzPct val="100000"/>
              <a:buFontTx/>
              <a:buChar char="•"/>
              <a:defRPr/>
            </a:pPr>
            <a:r>
              <a:rPr lang="en-US" altLang="zh-CN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Compound hot-humid risk increases, and the ML models show good future-period predictive skill.</a:t>
            </a:r>
            <a:endParaRPr lang="en-US" altLang="zh-CN" sz="14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342900" lvl="0" indent="-342900">
              <a:lnSpc>
                <a:spcPts val="1380"/>
              </a:lnSpc>
              <a:buSzPct val="100000"/>
              <a:buFontTx/>
              <a:buChar char="•"/>
              <a:defRPr/>
            </a:pPr>
            <a:endParaRPr lang="en-GB" altLang="zh-CN" sz="14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342900" lvl="0" indent="-342900">
              <a:lnSpc>
                <a:spcPts val="1380"/>
              </a:lnSpc>
              <a:buSzPct val="100000"/>
              <a:buFontTx/>
              <a:buChar char="•"/>
              <a:defRPr/>
            </a:pPr>
            <a:endParaRPr lang="en-GB" sz="14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342900" lvl="0" indent="-342900">
              <a:lnSpc>
                <a:spcPts val="1380"/>
              </a:lnSpc>
              <a:buSzPct val="100000"/>
              <a:buFontTx/>
              <a:buChar char="•"/>
              <a:defRPr/>
            </a:pPr>
            <a:endParaRPr lang="en-US" sz="14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defRPr/>
            </a:pPr>
            <a:endParaRPr lang="en-US" sz="14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图片 6" descr="图表, 折线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136" y="2571750"/>
            <a:ext cx="2572514" cy="257251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Reproducibility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Jupyter notebooks: EDA-2.ipynb, ML.ipynb, GRAPHS.ipynb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environment.yml provided for conda environment recreation (Python 3.12)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NetCDF files from CESM2 LENS2 (members 003–008)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seeds set to 42 for all ML models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for version control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1097280"/>
            <a:ext cx="2926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>
              <a:buSzPct val="100000"/>
              <a:buNone/>
            </a:pPr>
            <a:endParaRPr lang="en-US" sz="1300" dirty="0"/>
          </a:p>
        </p:txBody>
      </p:sp>
      <p:sp>
        <p:nvSpPr>
          <p:cNvPr id="5" name="文本框 4"/>
          <p:cNvSpPr txBox="1"/>
          <p:nvPr/>
        </p:nvSpPr>
        <p:spPr>
          <a:xfrm>
            <a:off x="659130" y="1159510"/>
            <a:ext cx="704215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CN" dirty="0">
                <a:sym typeface="+mn-ea"/>
              </a:rPr>
              <a:t>Limitations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Results are based on one climate-model framework.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The study focuses on one Manchester grid point.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The ML framework is simple and mainly demonstrates predictive relationships.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Future Work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Compare across multiple models and observations.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Extend the analysis to more locations.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Use stricter validation and more advanced heat-stress indicators.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8138</Words>
  <Application>WPS 文字</Application>
  <PresentationFormat>全屏显示(16:9)</PresentationFormat>
  <Paragraphs>402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8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Helvetica Neue</vt:lpstr>
      <vt:lpstr>Calibri</vt:lpstr>
      <vt:lpstr>Calibri</vt:lpstr>
      <vt:lpstr>微软雅黑</vt:lpstr>
      <vt:lpstr>汉仪旗黑</vt:lpstr>
      <vt:lpstr>汉仪书宋二KW</vt:lpstr>
      <vt:lpstr>等线</vt:lpstr>
      <vt:lpstr>汉仪中等线KW</vt:lpstr>
      <vt:lpstr>宋体</vt:lpstr>
      <vt:lpstr>Arial Unicode MS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TREFMXAV_U at Manchester</dc:title>
  <dc:creator>Climate ML Group</dc:creator>
  <dc:subject>PptxGenJS Presentation</dc:subject>
  <cp:lastModifiedBy>″絕￠～对″</cp:lastModifiedBy>
  <cp:revision>19</cp:revision>
  <dcterms:created xsi:type="dcterms:W3CDTF">2026-04-21T19:21:00Z</dcterms:created>
  <dcterms:modified xsi:type="dcterms:W3CDTF">2026-04-21T19:21:00Z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02F847B472DF270BEECCE7697EAF112B_43</vt:lpwstr>
  </property>
  <property fmtid="{D5CDD505-2E9C-101B-9397-08002B2CF9AE}" pid="3" name="KSOProductBuildVer">
    <vt:lpwstr>2052-12.1.25867.25867</vt:lpwstr>
  </property>
</Properties>
</file>