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31"/>
  </p:notesMasterIdLst>
  <p:sldIdLst>
    <p:sldId id="256" r:id="rId3"/>
    <p:sldId id="257" r:id="rId4"/>
    <p:sldId id="258" r:id="rId5"/>
    <p:sldId id="280" r:id="rId6"/>
    <p:sldId id="260" r:id="rId7"/>
    <p:sldId id="261" r:id="rId8"/>
    <p:sldId id="262" r:id="rId9"/>
    <p:sldId id="263" r:id="rId10"/>
    <p:sldId id="264" r:id="rId11"/>
    <p:sldId id="28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74" r:id="rId21"/>
    <p:sldId id="275" r:id="rId22"/>
    <p:sldId id="276" r:id="rId23"/>
    <p:sldId id="286" r:id="rId24"/>
    <p:sldId id="277" r:id="rId25"/>
    <p:sldId id="278" r:id="rId26"/>
    <p:sldId id="284" r:id="rId27"/>
    <p:sldId id="288" r:id="rId28"/>
    <p:sldId id="273" r:id="rId29"/>
    <p:sldId id="285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2B4"/>
    <a:srgbClr val="1B3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6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Predicting Daily Maximum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Temperature and </a:t>
            </a:r>
            <a:r>
              <a:rPr lang="en-US" altLang="zh-CN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Humidity</a:t>
            </a: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at Manchester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2050–2080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CESM2 LENS2 Data and Supervised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 and Modelling — Group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807" y="940753"/>
            <a:ext cx="8964386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CESM2 LENS2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Earth System Model 2, Large Ensemble. A widely-used global climate model run multiple times with slightly different initial conditions to sample natural variability.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ensemble members (003–008), daily resolution, 2006–2080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grid point to Manchester (53.48°N, 2.24°W)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164,244 total daily observations across all members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TREFMXAV_U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maximum near-surface air temperature (stored in Kelvin, converted to °C). This is the variable we are predicting.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altLang="zh-CN" sz="1600" b="1" dirty="0"/>
              <a:t>QBOT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Lowest model level specific humidity (stored in g/kg). Alongside temperature, this is a crucial variable for assessing human heat stress and compound climate risks.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1140" y="4793615"/>
            <a:ext cx="9243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Sources: CESM2-LENS2; Danabasoglu et al. (2020); Rodgers et al. (2021)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5AD038B-7E1D-FBCC-C293-12F5AEF64CE9}"/>
              </a:ext>
            </a:extLst>
          </p:cNvPr>
          <p:cNvPicPr>
            <a:picLocks/>
          </p:cNvPicPr>
          <p:nvPr/>
        </p:nvPicPr>
        <p:blipFill>
          <a:blip r:embed="rId3"/>
          <a:srcRect t="13778" b="15779"/>
          <a:stretch>
            <a:fillRect/>
          </a:stretch>
        </p:blipFill>
        <p:spPr>
          <a:xfrm>
            <a:off x="4805220" y="1472256"/>
            <a:ext cx="3654202" cy="20090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1025434"/>
            <a:ext cx="896112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TREFMXAV_U for January 2050 to December 2080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supervised machine learning model.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2006–2049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8 other climate variables (TREFHT, FSNS, QBOT, FLNS, UBOT, VBOT, PRECT, PRSN) as features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2050–2080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TREFMXAV_U exists in the data for this period, so we can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predictions against the actual values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TREFMXAV_U is NOT used as a feature. The model must learn to predict it purely from the other climate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Annual Mean Temperature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74914" y="3900353"/>
            <a:ext cx="8595360" cy="30773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ensemble members show a clear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warming trend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mean rises from roughly 10°C to 12°C over 2006–2080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at 2050 marks where we split training and prediction data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between members shows natural climate noise</a:t>
            </a:r>
            <a:endParaRPr lang="en-US" dirty="0"/>
          </a:p>
        </p:txBody>
      </p:sp>
      <p:pic>
        <p:nvPicPr>
          <p:cNvPr id="7" name="图片 6" descr="eda_01_annual_times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822961"/>
            <a:ext cx="8001219" cy="3077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Warming Trend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5D3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+0.3°C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decade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2560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5D3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+2.2°C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0" y="32004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warming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to 2080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39319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linear upward trend</a:t>
            </a:r>
            <a:endParaRPr lang="en-US" sz="1100" dirty="0"/>
          </a:p>
        </p:txBody>
      </p:sp>
      <p:pic>
        <p:nvPicPr>
          <p:cNvPr id="12" name="图片 11" descr="eda_02_warming_tr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6989"/>
            <a:ext cx="6415977" cy="2467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Seasonal Warming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34742" y="1034684"/>
            <a:ext cx="3309258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months warm more than winter months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shift: August at +2.4°C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shift: December at +1.1°C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uneven seasonal warming is an important finding for impact assessment</a:t>
            </a:r>
            <a:endParaRPr lang="en-US" dirty="0"/>
          </a:p>
        </p:txBody>
      </p:sp>
      <p:pic>
        <p:nvPicPr>
          <p:cNvPr id="7" name="图片 6" descr="eda_03_seasonal_cy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37" y="1097279"/>
            <a:ext cx="5946396" cy="3469277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6246223" y="1786345"/>
            <a:ext cx="2714897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5907677" y="3211285"/>
            <a:ext cx="2694215" cy="987334"/>
          </a:xfrm>
          <a:prstGeom prst="round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Distribution Shift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75812" y="1581694"/>
            <a:ext cx="3157946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distribution shifts to the right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mean: ~10.5°C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mean: ~12.2°C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Shift: approximately +1.6°C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confirms the difference is statistically significant (p &lt; 0.05)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图片 6" descr="eda_04_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" y="1490254"/>
            <a:ext cx="5983008" cy="2719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Ensemble Spread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5792" y="4091940"/>
            <a:ext cx="8811123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 shows the range across all 6 ensemble members</a:t>
            </a:r>
            <a:endParaRPr lang="en-US" dirty="0"/>
          </a:p>
          <a:p>
            <a:pPr marL="0" indent="0">
              <a:lnSpc>
                <a:spcPts val="1200"/>
              </a:lnSpc>
              <a:buNone/>
            </a:pPr>
            <a:endParaRPr lang="en-US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climate variability is present, but the warming signal is clear above the noise</a:t>
            </a:r>
            <a:endParaRPr lang="en-US" dirty="0"/>
          </a:p>
          <a:p>
            <a:pPr marL="0" indent="0">
              <a:lnSpc>
                <a:spcPts val="1200"/>
              </a:lnSpc>
              <a:buNone/>
            </a:pPr>
            <a:endParaRPr lang="en-US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spread helps us understand uncertainty in the predictions</a:t>
            </a:r>
            <a:endParaRPr lang="en-US" dirty="0"/>
          </a:p>
        </p:txBody>
      </p:sp>
      <p:pic>
        <p:nvPicPr>
          <p:cNvPr id="7" name="图片 6" descr="eda_05_ensemble_spre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22960"/>
            <a:ext cx="8262487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Increasing Hot Days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02771" y="4128405"/>
            <a:ext cx="8047809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days per year exceeding 20°C, 25°C, and 30°C thresholds</a:t>
            </a: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increase in hot days in the projected period</a:t>
            </a: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heat-related health risks and infrastructure planning for Manchester</a:t>
            </a:r>
          </a:p>
        </p:txBody>
      </p:sp>
      <p:pic>
        <p:nvPicPr>
          <p:cNvPr id="7" name="图片 6" descr="eda_06_hot_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98" y="877932"/>
            <a:ext cx="8322554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EDA: Feature Correlations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0" cy="3200400"/>
          </a:xfrm>
          <a:prstGeom prst="rect">
            <a:avLst/>
          </a:prstGeom>
          <a:solidFill>
            <a:srgbClr val="E8F1F5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eda_07_correlations.png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0"/>
            <a:ext cx="33832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TREFHT (mean temp)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0.99 — strongest predictor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FSNS (solar radiation)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correlated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QBOT (humidity)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 correlated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PRSN (snowfall)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negatively correlated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correlations informed our feature selection for the ML model</a:t>
            </a:r>
            <a:endParaRPr lang="en-US" dirty="0"/>
          </a:p>
        </p:txBody>
      </p:sp>
      <p:pic>
        <p:nvPicPr>
          <p:cNvPr id="7" name="图片 6" descr="eda_07_correl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0" y="1097280"/>
            <a:ext cx="5358605" cy="3349534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5562600" y="4322717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562600" y="1840774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562600" y="2651760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562600" y="3484517"/>
            <a:ext cx="3213463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Machine Learning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0" cy="2011680"/>
          </a:xfrm>
          <a:prstGeom prst="rect">
            <a:avLst/>
          </a:prstGeom>
          <a:solidFill>
            <a:srgbClr val="E8F1F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34747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data: TREFHT, FSNS, QBOT, FLNS, UBOT, VBOT, PRECT, PRSN</a:t>
            </a:r>
            <a:endParaRPr lang="en-US" i="1" dirty="0"/>
          </a:p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sin(doy), cos(doy), normalised year</a:t>
            </a:r>
            <a:endParaRPr lang="en-US" sz="1500" i="1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2011680"/>
          </a:xfrm>
          <a:prstGeom prst="rect">
            <a:avLst/>
          </a:prstGeom>
          <a:solidFill>
            <a:srgbClr val="E8F1F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47472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2006–2049 (96,354 samples)</a:t>
            </a:r>
            <a:endParaRPr lang="en-US" sz="1600" i="1" dirty="0"/>
          </a:p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2050–2080 (67,890 samples)</a:t>
            </a:r>
            <a:endParaRPr lang="en-US" sz="1600" i="1" dirty="0"/>
          </a:p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random — strict temporal separation</a:t>
            </a:r>
            <a:endParaRPr lang="en-US" sz="1500" i="1" dirty="0"/>
          </a:p>
        </p:txBody>
      </p:sp>
      <p:sp>
        <p:nvSpPr>
          <p:cNvPr id="9" name="Text 7"/>
          <p:cNvSpPr/>
          <p:nvPr/>
        </p:nvSpPr>
        <p:spPr>
          <a:xfrm>
            <a:off x="548640" y="3298371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tested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743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baseline. Features standardised with StandardScaler.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749040"/>
            <a:ext cx="2743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max depth 15. Captures non-linear patterns.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749040"/>
            <a:ext cx="274320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estimators, learning rate 0.05. Sequential correction of errors.</a:t>
            </a:r>
            <a:endParaRPr lang="en-US" sz="1400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2960914" y="3494314"/>
            <a:ext cx="5885906" cy="0"/>
          </a:xfrm>
          <a:prstGeom prst="line">
            <a:avLst/>
          </a:prstGeom>
          <a:ln w="76200">
            <a:solidFill>
              <a:srgbClr val="1B3A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380015" y="3830682"/>
            <a:ext cx="0" cy="609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161315" y="3830682"/>
            <a:ext cx="0" cy="609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51180" y="4748530"/>
            <a:ext cx="6375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ML implemented using scikit-learn (Pedregosa et al., 2011)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Model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42257" y="987878"/>
          <a:ext cx="7522029" cy="2212522"/>
        </p:xfrm>
        <a:graphic>
          <a:graphicData uri="http://schemas.openxmlformats.org/drawingml/2006/table">
            <a:tbl>
              <a:tblPr/>
              <a:tblGrid>
                <a:gridCol w="2820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79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MAE (°C)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RMSE (°C)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Ridge Regression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0.788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0.979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0.513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0.682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</a:rPr>
                        <a:t>0.984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~0.50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~0.67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~0.984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2643" y="3496491"/>
            <a:ext cx="8071757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achieve R² &gt; 0.97, meaning they explain over 97% of the variance in daily max temperature.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performed best overall with the lowest MAE (0.51°C) and highest R² (0.984).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Actual vs Predicted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53446" y="1374866"/>
            <a:ext cx="3341914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cluster tightly around the 1:1 line, indicating accurate predictions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scatter at extreme high and low temperatures, which is expected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the model captures the full temperature range well</a:t>
            </a:r>
            <a:endParaRPr lang="en-US" dirty="0"/>
          </a:p>
        </p:txBody>
      </p:sp>
      <p:pic>
        <p:nvPicPr>
          <p:cNvPr id="7" name="图片 6" descr="ml_01_sca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4" y="883557"/>
            <a:ext cx="4259943" cy="4259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Annual Means 2050–2080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213" y="4191000"/>
            <a:ext cx="8895987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track the actual annual means closely year by year</a:t>
            </a: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captures both the overall warming trend and interannual variability</a:t>
            </a: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the model generalises well to unseen future data</a:t>
            </a:r>
          </a:p>
        </p:txBody>
      </p:sp>
      <p:pic>
        <p:nvPicPr>
          <p:cNvPr id="7" name="图片 6" descr="ml_02_annual_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22" y="968006"/>
            <a:ext cx="8003358" cy="30779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Residual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0044" y="4134394"/>
            <a:ext cx="9062595" cy="91766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residuals vs fitted values show no obvious pattern, which is a good sign</a:t>
            </a: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residual distribution is roughly normal and centred near zero</a:t>
            </a: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endParaRPr lang="en-US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bias in the predictions</a:t>
            </a:r>
          </a:p>
        </p:txBody>
      </p:sp>
      <p:pic>
        <p:nvPicPr>
          <p:cNvPr id="7" name="图片 6" descr="ml_03_residu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9" y="914400"/>
            <a:ext cx="7085576" cy="2952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Results: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49896" y="1247822"/>
            <a:ext cx="2994103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TREFHT dominates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daily mean temp is the strongest predictor of daily max temp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 (FSNS) and day-of-year encoding also contribute meaningfully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precipitation features have lower importance but still add predictive value</a:t>
            </a:r>
            <a:endParaRPr lang="en-US" sz="1600" dirty="0"/>
          </a:p>
        </p:txBody>
      </p:sp>
      <p:pic>
        <p:nvPicPr>
          <p:cNvPr id="7" name="图片 6" descr="ml_04_feature_import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806" y="1027755"/>
            <a:ext cx="6294671" cy="39345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47741" y="209211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562" y="692194"/>
            <a:ext cx="7874876" cy="27294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endParaRPr lang="en-US" dirty="0"/>
          </a:p>
          <a:p>
            <a:pPr algn="ctr">
              <a:buSzPct val="100000"/>
            </a:pPr>
            <a:r>
              <a:rPr lang="en-US" sz="2400" dirty="0">
                <a:solidFill>
                  <a:srgbClr val="9D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specific research question</a:t>
            </a:r>
          </a:p>
          <a:p>
            <a:pPr algn="ctr">
              <a:buSzPct val="100000"/>
            </a:pPr>
            <a:endParaRPr lang="en-US" sz="2800" dirty="0"/>
          </a:p>
          <a:p>
            <a:pPr algn="ctr">
              <a:buSzPct val="100000"/>
            </a:pPr>
            <a:endParaRPr lang="en-US" sz="2800" dirty="0"/>
          </a:p>
          <a:p>
            <a:pPr algn="ctr">
              <a:buSzPct val="100000"/>
            </a:pP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r>
              <a:rPr lang="en-US" altLang="zh-CN" sz="2400" dirty="0">
                <a:solidFill>
                  <a:srgbClr val="9DB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EDA + ML framework from temperature to QBOT.</a:t>
            </a:r>
          </a:p>
          <a:p>
            <a:pPr algn="ctr">
              <a:buSzPct val="100000"/>
            </a:pPr>
            <a:endParaRPr lang="en-US" altLang="zh-CN" sz="2400" dirty="0">
              <a:solidFill>
                <a:srgbClr val="9DB5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endParaRPr lang="en-US" altLang="zh-CN" sz="2400" dirty="0"/>
          </a:p>
        </p:txBody>
      </p:sp>
      <p:sp>
        <p:nvSpPr>
          <p:cNvPr id="6" name="箭头: 下 5"/>
          <p:cNvSpPr/>
          <p:nvPr/>
        </p:nvSpPr>
        <p:spPr>
          <a:xfrm>
            <a:off x="4431665" y="4121785"/>
            <a:ext cx="281305" cy="36576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下箭头标注 8"/>
          <p:cNvSpPr/>
          <p:nvPr/>
        </p:nvSpPr>
        <p:spPr>
          <a:xfrm>
            <a:off x="858432" y="1423714"/>
            <a:ext cx="7427135" cy="1915992"/>
          </a:xfrm>
          <a:prstGeom prst="downArrowCallout">
            <a:avLst>
              <a:gd name="adj1" fmla="val 19240"/>
              <a:gd name="adj2" fmla="val 22120"/>
              <a:gd name="adj3" fmla="val 25000"/>
              <a:gd name="adj4" fmla="val 6497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dirty="0">
                <a:solidFill>
                  <a:schemeClr val="tx1"/>
                </a:solidFill>
              </a:rPr>
              <a:t>How does near-surface specific humidity evolve in Manchester from the historical period (2006–2049) to the future projection period (2050–2080), and how does its coupling with temperature influence the frequency of compound hot-humid events?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6390" y="4568825"/>
            <a:ext cx="8491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accent5">
                    <a:lumMod val="40000"/>
                    <a:lumOff val="60000"/>
                  </a:schemeClr>
                </a:solidFill>
              </a:rPr>
              <a:t>Compound hot-humid days and QBOT model diagnostics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en-US" altLang="zh-CN" dirty="0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文本框 6"/>
          <p:cNvSpPr txBox="1"/>
          <p:nvPr/>
        </p:nvSpPr>
        <p:spPr>
          <a:xfrm>
            <a:off x="423544" y="1708150"/>
            <a:ext cx="86633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EDA: trend, mean change, seasonal cycle, temperature-humidity relationship, and compound hot-humid days</a:t>
            </a:r>
          </a:p>
          <a:p>
            <a:endParaRPr lang="en-US" altLang="zh-CN" dirty="0"/>
          </a:p>
          <a:p>
            <a:r>
              <a:rPr lang="en-US" altLang="zh-CN" dirty="0"/>
              <a:t>Modelling: same train-test split and model comparison</a:t>
            </a:r>
          </a:p>
          <a:p>
            <a:endParaRPr lang="en-US" altLang="zh-CN" dirty="0"/>
          </a:p>
          <a:p>
            <a:r>
              <a:rPr lang="en-US" altLang="zh-CN" dirty="0"/>
              <a:t>Focus on moisture change and hot-humid risk</a:t>
            </a:r>
          </a:p>
          <a:p>
            <a:endParaRPr lang="en-US" altLang="zh-CN" dirty="0"/>
          </a:p>
          <a:p>
            <a:r>
              <a:rPr lang="en-US" altLang="zh-CN" b="1" dirty="0"/>
              <a:t>Ablation test </a:t>
            </a:r>
            <a:r>
              <a:rPr lang="en-US" altLang="zh-CN" dirty="0"/>
              <a:t>used to check dependence on temperature</a:t>
            </a:r>
          </a:p>
          <a:p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1096645"/>
            <a:ext cx="61601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9560" indent="-86360">
              <a:spcBef>
                <a:spcPts val="800"/>
              </a:spcBef>
              <a:spcAft>
                <a:spcPct val="0"/>
              </a:spcAft>
            </a:pPr>
            <a:r>
              <a:rPr lang="en-US" altLang="zh-CN" sz="2000" b="1" i="1" dirty="0"/>
              <a:t>Application of the Framework to QBOT (Humidity)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8450" y="20419"/>
            <a:ext cx="8534400" cy="12926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defRPr>
            </a:lvl1pPr>
          </a:lstStyle>
          <a:p>
            <a:r>
              <a:rPr lang="en-US" altLang="zh-CN" dirty="0"/>
              <a:t>QBOT:  'side effect' of heat or independent pattern</a:t>
            </a:r>
          </a:p>
          <a:p>
            <a:endParaRPr lang="zh-CN" altLang="en-US" dirty="0"/>
          </a:p>
        </p:txBody>
      </p:sp>
      <p:sp>
        <p:nvSpPr>
          <p:cNvPr id="8" name="三角形 7"/>
          <p:cNvSpPr/>
          <p:nvPr/>
        </p:nvSpPr>
        <p:spPr>
          <a:xfrm>
            <a:off x="173354" y="2167387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三角形 9"/>
          <p:cNvSpPr/>
          <p:nvPr/>
        </p:nvSpPr>
        <p:spPr>
          <a:xfrm>
            <a:off x="173354" y="2905190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三角形 10"/>
          <p:cNvSpPr/>
          <p:nvPr/>
        </p:nvSpPr>
        <p:spPr>
          <a:xfrm>
            <a:off x="173354" y="3467998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三角形 11"/>
          <p:cNvSpPr/>
          <p:nvPr/>
        </p:nvSpPr>
        <p:spPr>
          <a:xfrm>
            <a:off x="173354" y="4030438"/>
            <a:ext cx="250190" cy="17004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       </a:t>
            </a:r>
            <a:r>
              <a:rPr lang="en-US" altLang="zh-CN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Long-term QBOT Trend</a:t>
            </a:r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8" name="图片 7" descr="qbot_02_tr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5" y="875030"/>
            <a:ext cx="7279005" cy="27990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50265" y="3815715"/>
            <a:ext cx="6522720" cy="1093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SzPct val="100000"/>
              <a:buChar char="•"/>
            </a:pPr>
            <a:r>
              <a:rPr lang="en-US" altLang="zh-CN" sz="1600" dirty="0"/>
              <a:t>Annual mean QBOT increases over time</a:t>
            </a:r>
          </a:p>
          <a:p>
            <a:pPr marL="342900" indent="-342900">
              <a:buSzPct val="100000"/>
              <a:buChar char="•"/>
            </a:pPr>
            <a:r>
              <a:rPr lang="en-US" altLang="zh-CN" sz="1600" dirty="0"/>
              <a:t>Clear moistening trend in Manchester</a:t>
            </a:r>
          </a:p>
          <a:p>
            <a:pPr marL="342900" indent="-342900">
              <a:buSzPct val="100000"/>
              <a:buChar char="•"/>
            </a:pPr>
            <a:r>
              <a:rPr lang="en-US" altLang="zh-CN" sz="1600" dirty="0"/>
              <a:t>Trend: +0.152 g/kg per decade</a:t>
            </a:r>
          </a:p>
          <a:p>
            <a:pPr marL="342900" indent="-342900">
              <a:buSzPct val="100000"/>
              <a:buChar char="•"/>
            </a:pPr>
            <a:r>
              <a:rPr lang="en-US" altLang="zh-CN" sz="1600" dirty="0"/>
              <a:t>Future climate becomes progressively more humid</a:t>
            </a:r>
          </a:p>
          <a:p>
            <a:pPr marL="342900" indent="-342900">
              <a:buSzPct val="100000"/>
              <a:buChar char="•"/>
            </a:pPr>
            <a:endParaRPr lang="en-US" altLang="zh-CN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   </a:t>
            </a:r>
            <a:r>
              <a:rPr lang="en-US" altLang="zh-CN" sz="2600" b="1" dirty="0">
                <a:solidFill>
                  <a:srgbClr val="FFFFFF"/>
                </a:solidFill>
                <a:latin typeface="Georgia" panose="02040502050405090303" pitchFamily="34" charset="0"/>
              </a:rPr>
              <a:t>Historical vs Future Mean QBOT</a:t>
            </a:r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/>
              <a:t>20</a:t>
            </a:r>
          </a:p>
        </p:txBody>
      </p:sp>
      <p:sp>
        <p:nvSpPr>
          <p:cNvPr id="6" name="Text 4"/>
          <p:cNvSpPr/>
          <p:nvPr/>
        </p:nvSpPr>
        <p:spPr>
          <a:xfrm>
            <a:off x="5943600" y="148082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zh-CN" dirty="0"/>
              <a:t>Mean QBOT rises from </a:t>
            </a:r>
            <a:r>
              <a:rPr lang="en-US" altLang="zh-CN" b="1" dirty="0"/>
              <a:t>6.30 g/kg </a:t>
            </a:r>
            <a:r>
              <a:rPr lang="en-US" altLang="zh-CN" dirty="0"/>
              <a:t>to </a:t>
            </a:r>
            <a:r>
              <a:rPr lang="en-US" altLang="zh-CN" b="1" dirty="0"/>
              <a:t>6.89 g/kg</a:t>
            </a:r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Future Manchester is more humid on average</a:t>
            </a:r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This shows a clear shift in background moisture level</a:t>
            </a:r>
          </a:p>
        </p:txBody>
      </p:sp>
      <p:pic>
        <p:nvPicPr>
          <p:cNvPr id="8" name="图片 7" descr="qbot_03_mean_ch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9" y="1097280"/>
            <a:ext cx="5874221" cy="36715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13690" y="3073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  <a:sym typeface="+mn-ea"/>
              </a:rPr>
              <a:t> Monthly QBOT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1400" y="1242586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altLang="zh-CN" dirty="0"/>
              <a:t>QBOT increases in every month</a:t>
            </a:r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The largest increase occurs in </a:t>
            </a:r>
            <a:r>
              <a:rPr lang="en-US" altLang="zh-CN" b="1" dirty="0"/>
              <a:t>summer</a:t>
            </a:r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July and August show the strongest moistening</a:t>
            </a:r>
          </a:p>
          <a:p>
            <a:pPr marL="342900" indent="-342900">
              <a:buSzPct val="100000"/>
              <a:buChar char="•"/>
            </a:pPr>
            <a:endParaRPr lang="en-US" altLang="zh-CN" dirty="0"/>
          </a:p>
          <a:p>
            <a:pPr marL="342900" indent="-342900">
              <a:buSzPct val="100000"/>
              <a:buChar char="•"/>
            </a:pPr>
            <a:r>
              <a:rPr lang="en-US" altLang="zh-CN" dirty="0"/>
              <a:t>Warm-season humidity change is especially important</a:t>
            </a:r>
          </a:p>
        </p:txBody>
      </p:sp>
      <p:pic>
        <p:nvPicPr>
          <p:cNvPr id="8" name="图片 7" descr="qbot_04_seasonal_cy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1880"/>
            <a:ext cx="6071870" cy="35418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pic>
        <p:nvPicPr>
          <p:cNvPr id="5" name="图片 4" descr="qbot_ml_05_seasonal_ski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62" y="947103"/>
            <a:ext cx="7385287" cy="276988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3876064"/>
            <a:ext cx="9323070" cy="2868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dirty="0"/>
              <a:t>Errors are lowest in winter /  highest in summer.         </a:t>
            </a:r>
          </a:p>
          <a:p>
            <a:pPr algn="ctr"/>
            <a:endParaRPr lang="en-US" altLang="zh-CN" sz="2000" dirty="0"/>
          </a:p>
          <a:p>
            <a:pPr algn="ctr"/>
            <a:r>
              <a:rPr lang="en-US" altLang="zh-CN" sz="2000" dirty="0"/>
              <a:t>Summer humidity is the hardest to predict   </a:t>
            </a:r>
            <a:r>
              <a:rPr lang="en-US" altLang="zh-CN" sz="2800" dirty="0"/>
              <a:t>   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3710" y="227330"/>
            <a:ext cx="3048000" cy="368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defRPr>
            </a:lvl1pPr>
          </a:lstStyle>
          <a:p>
            <a:r>
              <a:rPr lang="en-US" altLang="zh-CN" dirty="0"/>
              <a:t>QBOT Seasonal</a:t>
            </a:r>
          </a:p>
        </p:txBody>
      </p:sp>
      <p:sp>
        <p:nvSpPr>
          <p:cNvPr id="12" name="箭头: 下 11"/>
          <p:cNvSpPr/>
          <p:nvPr/>
        </p:nvSpPr>
        <p:spPr>
          <a:xfrm>
            <a:off x="4479805" y="4230370"/>
            <a:ext cx="336550" cy="433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Temperature-Humidity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/>
              <a:t>22</a:t>
            </a:r>
          </a:p>
        </p:txBody>
      </p:sp>
      <p:sp>
        <p:nvSpPr>
          <p:cNvPr id="6" name="Text 4"/>
          <p:cNvSpPr/>
          <p:nvPr/>
        </p:nvSpPr>
        <p:spPr>
          <a:xfrm>
            <a:off x="5193030" y="1174115"/>
            <a:ext cx="3684270" cy="3489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Hotter days also tend to be more humid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Strong positive relationship between Tmax and QBOT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Pearson r = 0.791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dirty="0"/>
              <a:t>Later years appear more often in the hot-humid region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 dirty="0"/>
          </a:p>
        </p:txBody>
      </p:sp>
      <p:pic>
        <p:nvPicPr>
          <p:cNvPr id="7" name="图片 6" descr="qbot_09_temp_humidity_jo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" y="1024890"/>
            <a:ext cx="485140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Compound Hot-Humid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/>
              <a:t>23</a:t>
            </a:r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altLang="zh-CN" sz="1300" dirty="0"/>
          </a:p>
        </p:txBody>
      </p:sp>
      <p:pic>
        <p:nvPicPr>
          <p:cNvPr id="7" name="图片 6" descr="qbot_10_compound_hot_humid_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45820"/>
            <a:ext cx="7904808" cy="30403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8460" y="3787170"/>
            <a:ext cx="8765540" cy="156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lvl1pPr marL="342900" indent="-342900">
              <a:buSzPct val="100000"/>
              <a:buChar char="•"/>
              <a:defRPr sz="1600"/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Compound hot-humid days = both Tmax and QBOT above historical P90 thresholds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Frequency increases clearly after 2050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Indicates rising risk of simultaneous heat and humidity extremes</a:t>
            </a:r>
          </a:p>
          <a:p>
            <a:pPr marL="0" indent="0"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Compound humid heat context: Sherwood &amp; Huber (2010); Raymond et al. (2020)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776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sp>
        <p:nvSpPr>
          <p:cNvPr id="8" name="文本框 7"/>
          <p:cNvSpPr txBox="1"/>
          <p:nvPr/>
        </p:nvSpPr>
        <p:spPr>
          <a:xfrm>
            <a:off x="742627" y="4480765"/>
            <a:ext cx="7853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Removing Tmax alone has little impact.</a:t>
            </a:r>
          </a:p>
          <a:p>
            <a:r>
              <a:rPr lang="en-US" altLang="zh-CN" dirty="0"/>
              <a:t>Removing both Tmax and TREFHT clearly reduces model performance.</a:t>
            </a:r>
          </a:p>
          <a:p>
            <a:endParaRPr lang="en-US" altLang="zh-CN" dirty="0"/>
          </a:p>
        </p:txBody>
      </p:sp>
      <p:sp>
        <p:nvSpPr>
          <p:cNvPr id="10" name="文本框 9"/>
          <p:cNvSpPr txBox="1"/>
          <p:nvPr/>
        </p:nvSpPr>
        <p:spPr>
          <a:xfrm>
            <a:off x="528954" y="-54572"/>
            <a:ext cx="8748395" cy="892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indent="0">
              <a:buNone/>
              <a:defRPr sz="2600" b="1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defRPr>
            </a:lvl1pPr>
          </a:lstStyle>
          <a:p>
            <a:r>
              <a:rPr lang="en-US" altLang="zh-CN" dirty="0"/>
              <a:t>QBOT Best-Model:  Ablation Test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473834" y="3893985"/>
            <a:ext cx="2851149" cy="586575"/>
          </a:xfrm>
          <a:prstGeom prst="roundRect">
            <a:avLst/>
          </a:prstGeom>
          <a:solidFill>
            <a:srgbClr val="4682B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</a:t>
            </a:r>
            <a:r>
              <a:rPr lang="en-US" altLang="en-US" dirty="0"/>
              <a:t>²</a:t>
            </a:r>
            <a:r>
              <a:rPr lang="en-US" altLang="zh-CN" dirty="0"/>
              <a:t> drops clearly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5257363" y="3893985"/>
            <a:ext cx="2851149" cy="586575"/>
          </a:xfrm>
          <a:prstGeom prst="roundRect">
            <a:avLst/>
          </a:prstGeom>
          <a:solidFill>
            <a:srgbClr val="4682B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RMSE increases strongly</a:t>
            </a:r>
          </a:p>
        </p:txBody>
      </p:sp>
      <p:pic>
        <p:nvPicPr>
          <p:cNvPr id="11" name="图片 10" descr="qbot_ml_06_ablation_comp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15" y="842010"/>
            <a:ext cx="7853045" cy="28987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03" y="91440"/>
            <a:ext cx="6075342" cy="5381753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03570" y="97155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pic>
        <p:nvPicPr>
          <p:cNvPr id="11" name="图片 10" descr="ml_01_sca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6" y="26541"/>
            <a:ext cx="2572514" cy="257251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329500" y="143763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Summary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2"/>
          <p:cNvSpPr/>
          <p:nvPr/>
        </p:nvSpPr>
        <p:spPr>
          <a:xfrm>
            <a:off x="202760" y="927606"/>
            <a:ext cx="570081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 ML model successfully predicts TREFMXAV_U and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QBOT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2050–2080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R² = 0.984 with MAE of just 0.51°C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a clear warming trend (+0.3°C/decade), uneven seasonal warming, and increasing extreme heat days</a:t>
            </a: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Manchester becomes warmer and more humid, with the strongest moistening in warm season.</a:t>
            </a: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Humidity and temperature provide related but not identical information, so they can offer complementary signals for the model.</a:t>
            </a: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US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r>
              <a:rPr lang="en-GB" altLang="zh-CN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The model demonstrates a robust feature utilization pattern: It avoids over-reliance on any single variable, suggesting good generalization capability.</a:t>
            </a: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GB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indent="-342900">
              <a:lnSpc>
                <a:spcPts val="1380"/>
              </a:lnSpc>
              <a:buSzPct val="100000"/>
              <a:buFontTx/>
              <a:buChar char="•"/>
              <a:defRPr/>
            </a:pPr>
            <a:r>
              <a:rPr lang="en-US" altLang="zh-CN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Compound hot-humid risk increases, and the ML models show good future-period predictive skill.</a:t>
            </a: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GB" altLang="zh-CN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GB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lvl="0" indent="-342900">
              <a:lnSpc>
                <a:spcPts val="1380"/>
              </a:lnSpc>
              <a:buSzPct val="100000"/>
              <a:buFontTx/>
              <a:buChar char="•"/>
              <a:defRPr/>
            </a:pPr>
            <a:endParaRPr lang="en-US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defRPr/>
            </a:pPr>
            <a:endParaRPr lang="en-US" sz="14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图片 6" descr="图表, 折线图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136" y="2571750"/>
            <a:ext cx="2572514" cy="25725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Reproducibility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67325"/>
            <a:ext cx="768096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Jupyter notebooks: EDA-2.ipynb, ML.ipynb, GRAPHS.ipynb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environment.yml provided for conda environment recreation (Python 3.12)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NetCDF files from CESM2 LENS2 (members 003–008)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seeds set to 42 for all ML models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for version control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4B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29260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indent="0">
              <a:buSzPct val="100000"/>
              <a:buNone/>
            </a:pPr>
            <a:endParaRPr lang="en-US" sz="1300" dirty="0"/>
          </a:p>
        </p:txBody>
      </p:sp>
      <p:sp>
        <p:nvSpPr>
          <p:cNvPr id="5" name="文本框 4"/>
          <p:cNvSpPr txBox="1"/>
          <p:nvPr/>
        </p:nvSpPr>
        <p:spPr>
          <a:xfrm>
            <a:off x="548640" y="1548395"/>
            <a:ext cx="70421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dirty="0">
                <a:sym typeface="+mn-ea"/>
              </a:rPr>
              <a:t>Results are based on one climate-model framework.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The study focuses on one Manchester grid point.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The ML framework is simple and mainly demonstrates predictive relationships.</a:t>
            </a:r>
          </a:p>
          <a:p>
            <a:pPr marL="0" indent="0">
              <a:buNone/>
            </a:pP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Compare across multiple models and observations.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Extend the analysis to more locations.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Use stricter validation and more advanced heat-stress indicators.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42640" y="1025175"/>
            <a:ext cx="202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Limitation</a:t>
            </a:r>
            <a:endParaRPr kumimoji="1" lang="zh-CN" altLang="en-US" sz="2800" dirty="0"/>
          </a:p>
        </p:txBody>
      </p:sp>
      <p:cxnSp>
        <p:nvCxnSpPr>
          <p:cNvPr id="10" name="直线连接符 9"/>
          <p:cNvCxnSpPr/>
          <p:nvPr/>
        </p:nvCxnSpPr>
        <p:spPr>
          <a:xfrm>
            <a:off x="2224514" y="1296563"/>
            <a:ext cx="664516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36333" y="2880251"/>
            <a:ext cx="3531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Recommendation</a:t>
            </a:r>
            <a:endParaRPr kumimoji="1" lang="zh-CN" altLang="en-US" sz="2800" dirty="0"/>
          </a:p>
        </p:txBody>
      </p:sp>
      <p:cxnSp>
        <p:nvCxnSpPr>
          <p:cNvPr id="13" name="直线连接符 12"/>
          <p:cNvCxnSpPr/>
          <p:nvPr/>
        </p:nvCxnSpPr>
        <p:spPr>
          <a:xfrm>
            <a:off x="3342290" y="3167404"/>
            <a:ext cx="552739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1507</Words>
  <Application>Microsoft Office PowerPoint</Application>
  <PresentationFormat>全屏显示(16:9)</PresentationFormat>
  <Paragraphs>308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Arial</vt:lpstr>
      <vt:lpstr>Calibri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TREFMXAV_U at Manchester</dc:title>
  <dc:subject>PptxGenJS Presentation</dc:subject>
  <dc:creator>Climate ML Group</dc:creator>
  <cp:lastModifiedBy>Xinqi Xie</cp:lastModifiedBy>
  <cp:revision>21</cp:revision>
  <dcterms:created xsi:type="dcterms:W3CDTF">2026-04-21T19:27:49Z</dcterms:created>
  <dcterms:modified xsi:type="dcterms:W3CDTF">2026-04-21T19:33:50Z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F0B87ABEB46D1889B5CFE769769EE40C_43</vt:lpwstr>
  </property>
  <property fmtid="{D5CDD505-2E9C-101B-9397-08002B2CF9AE}" pid="3" name="KSOProductBuildVer">
    <vt:lpwstr>2052-12.1.25867.25867</vt:lpwstr>
  </property>
</Properties>
</file>